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3900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B2D"/>
          </a:solidFill>
          <a:ln/>
        </p:spPr>
        <p:txBody>
          <a:bodyPr/>
          <a:lstStyle/>
          <a:p>
            <a:endParaRPr lang="en-US"/>
          </a:p>
        </p:txBody>
      </p:sp>
      <p:sp>
        <p:nvSpPr>
          <p:cNvPr id="3" name="Shape 1"/>
          <p:cNvSpPr/>
          <p:nvPr/>
        </p:nvSpPr>
        <p:spPr>
          <a:xfrm>
            <a:off x="0" y="3657600"/>
            <a:ext cx="9144000" cy="36576"/>
          </a:xfrm>
          <a:prstGeom prst="rect">
            <a:avLst/>
          </a:prstGeom>
          <a:solidFill>
            <a:srgbClr val="1C7293"/>
          </a:solidFill>
          <a:ln/>
        </p:spPr>
        <p:txBody>
          <a:bodyPr/>
          <a:lstStyle/>
          <a:p>
            <a:endParaRPr lang="en-US"/>
          </a:p>
        </p:txBody>
      </p:sp>
      <p:sp>
        <p:nvSpPr>
          <p:cNvPr id="4" name="Text 2"/>
          <p:cNvSpPr/>
          <p:nvPr/>
        </p:nvSpPr>
        <p:spPr>
          <a:xfrm>
            <a:off x="731520" y="914400"/>
            <a:ext cx="7680960" cy="2011680"/>
          </a:xfrm>
          <a:prstGeom prst="rect">
            <a:avLst/>
          </a:prstGeom>
          <a:noFill/>
          <a:ln/>
        </p:spPr>
        <p:txBody>
          <a:bodyPr wrap="square" rtlCol="0" anchor="ctr"/>
          <a:lstStyle/>
          <a:p>
            <a:pPr marL="0" indent="0">
              <a:lnSpc>
                <a:spcPct val="110000"/>
              </a:lnSpc>
              <a:buNone/>
            </a:pPr>
            <a:r>
              <a:rPr lang="en-US" sz="3800" b="1" dirty="0">
                <a:solidFill>
                  <a:srgbClr val="FFFFFF"/>
                </a:solidFill>
                <a:latin typeface="Trebuchet MS" pitchFamily="34" charset="0"/>
                <a:ea typeface="Trebuchet MS" pitchFamily="34" charset="-122"/>
                <a:cs typeface="Trebuchet MS" pitchFamily="34" charset="-120"/>
              </a:rPr>
              <a:t>NBA Player Performance</a:t>
            </a:r>
            <a:endParaRPr lang="en-US" sz="3800" dirty="0"/>
          </a:p>
          <a:p>
            <a:pPr marL="0" indent="0">
              <a:lnSpc>
                <a:spcPct val="110000"/>
              </a:lnSpc>
              <a:buNone/>
            </a:pPr>
            <a:r>
              <a:rPr lang="en-US" sz="3800" b="1" dirty="0">
                <a:solidFill>
                  <a:srgbClr val="FFFFFF"/>
                </a:solidFill>
                <a:latin typeface="Trebuchet MS" pitchFamily="34" charset="0"/>
                <a:ea typeface="Trebuchet MS" pitchFamily="34" charset="-122"/>
                <a:cs typeface="Trebuchet MS" pitchFamily="34" charset="-120"/>
              </a:rPr>
              <a:t>&amp; Salary Analytics Pipeline</a:t>
            </a:r>
            <a:endParaRPr lang="en-US" sz="3800" dirty="0"/>
          </a:p>
        </p:txBody>
      </p:sp>
      <p:sp>
        <p:nvSpPr>
          <p:cNvPr id="5" name="Text 3"/>
          <p:cNvSpPr/>
          <p:nvPr/>
        </p:nvSpPr>
        <p:spPr>
          <a:xfrm>
            <a:off x="731520" y="2926080"/>
            <a:ext cx="7680960" cy="457200"/>
          </a:xfrm>
          <a:prstGeom prst="rect">
            <a:avLst/>
          </a:prstGeom>
          <a:noFill/>
          <a:ln/>
        </p:spPr>
        <p:txBody>
          <a:bodyPr wrap="square" rtlCol="0" anchor="ctr"/>
          <a:lstStyle/>
          <a:p>
            <a:pPr marL="0" indent="0">
              <a:buNone/>
            </a:pPr>
            <a:r>
              <a:rPr lang="en-US" sz="1800" dirty="0">
                <a:solidFill>
                  <a:srgbClr val="1C7293"/>
                </a:solidFill>
                <a:latin typeface="Calibri" pitchFamily="34" charset="0"/>
                <a:ea typeface="Calibri" pitchFamily="34" charset="-122"/>
                <a:cs typeface="Calibri" pitchFamily="34" charset="-120"/>
              </a:rPr>
              <a:t>CPSC 482 — Data-Intensive Systems</a:t>
            </a:r>
            <a:endParaRPr lang="en-US" sz="1800" dirty="0"/>
          </a:p>
        </p:txBody>
      </p:sp>
      <p:sp>
        <p:nvSpPr>
          <p:cNvPr id="6" name="Text 4"/>
          <p:cNvSpPr/>
          <p:nvPr/>
        </p:nvSpPr>
        <p:spPr>
          <a:xfrm>
            <a:off x="731520" y="3931920"/>
            <a:ext cx="3657600" cy="36576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Jacob Jarvis  |  Spring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rtlCol="0" anchor="ctr"/>
          <a:lstStyle/>
          <a:p>
            <a:pPr marL="0" indent="0">
              <a:buNone/>
            </a:pPr>
            <a:r>
              <a:rPr lang="en-US" sz="3200" b="1" dirty="0">
                <a:solidFill>
                  <a:srgbClr val="1E293B"/>
                </a:solidFill>
                <a:latin typeface="Trebuchet MS" pitchFamily="34" charset="0"/>
                <a:ea typeface="Trebuchet MS" pitchFamily="34" charset="-122"/>
                <a:cs typeface="Trebuchet MS" pitchFamily="34" charset="-120"/>
              </a:rPr>
              <a:t>Project Goals</a:t>
            </a:r>
            <a:endParaRPr lang="en-US" sz="3200" dirty="0"/>
          </a:p>
        </p:txBody>
      </p:sp>
      <p:sp>
        <p:nvSpPr>
          <p:cNvPr id="3" name="Shape 1"/>
          <p:cNvSpPr/>
          <p:nvPr/>
        </p:nvSpPr>
        <p:spPr>
          <a:xfrm>
            <a:off x="731520" y="1188720"/>
            <a:ext cx="54864" cy="640080"/>
          </a:xfrm>
          <a:prstGeom prst="rect">
            <a:avLst/>
          </a:prstGeom>
          <a:solidFill>
            <a:srgbClr val="1C7293"/>
          </a:solidFill>
          <a:ln/>
        </p:spPr>
        <p:txBody>
          <a:bodyPr/>
          <a:lstStyle/>
          <a:p>
            <a:endParaRPr lang="en-US"/>
          </a:p>
        </p:txBody>
      </p:sp>
      <p:sp>
        <p:nvSpPr>
          <p:cNvPr id="4" name="Text 2"/>
          <p:cNvSpPr/>
          <p:nvPr/>
        </p:nvSpPr>
        <p:spPr>
          <a:xfrm>
            <a:off x="1005840" y="1188720"/>
            <a:ext cx="7315200" cy="320040"/>
          </a:xfrm>
          <a:prstGeom prst="rect">
            <a:avLst/>
          </a:prstGeom>
          <a:noFill/>
          <a:ln/>
        </p:spPr>
        <p:txBody>
          <a:bodyPr wrap="square" lIns="0" tIns="0" rIns="0" bIns="0"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End-to-End Pipeline</a:t>
            </a:r>
            <a:endParaRPr lang="en-US" sz="1600" dirty="0"/>
          </a:p>
        </p:txBody>
      </p:sp>
      <p:sp>
        <p:nvSpPr>
          <p:cNvPr id="5" name="Text 3"/>
          <p:cNvSpPr/>
          <p:nvPr/>
        </p:nvSpPr>
        <p:spPr>
          <a:xfrm>
            <a:off x="1005840" y="1481328"/>
            <a:ext cx="73152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Build a complete data workflow on GCP from raw ingestion through analytics and visualization</a:t>
            </a:r>
            <a:endParaRPr lang="en-US" sz="1300" dirty="0"/>
          </a:p>
        </p:txBody>
      </p:sp>
      <p:sp>
        <p:nvSpPr>
          <p:cNvPr id="6" name="Shape 4"/>
          <p:cNvSpPr/>
          <p:nvPr/>
        </p:nvSpPr>
        <p:spPr>
          <a:xfrm>
            <a:off x="731520" y="2103120"/>
            <a:ext cx="54864" cy="640080"/>
          </a:xfrm>
          <a:prstGeom prst="rect">
            <a:avLst/>
          </a:prstGeom>
          <a:solidFill>
            <a:srgbClr val="1C7293"/>
          </a:solidFill>
          <a:ln/>
        </p:spPr>
        <p:txBody>
          <a:bodyPr/>
          <a:lstStyle/>
          <a:p>
            <a:endParaRPr lang="en-US"/>
          </a:p>
        </p:txBody>
      </p:sp>
      <p:sp>
        <p:nvSpPr>
          <p:cNvPr id="7" name="Text 5"/>
          <p:cNvSpPr/>
          <p:nvPr/>
        </p:nvSpPr>
        <p:spPr>
          <a:xfrm>
            <a:off x="1005840" y="2103120"/>
            <a:ext cx="7315200" cy="320040"/>
          </a:xfrm>
          <a:prstGeom prst="rect">
            <a:avLst/>
          </a:prstGeom>
          <a:noFill/>
          <a:ln/>
        </p:spPr>
        <p:txBody>
          <a:bodyPr wrap="square" lIns="0" tIns="0" rIns="0" bIns="0"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Performance Analytics</a:t>
            </a:r>
            <a:endParaRPr lang="en-US" sz="1600" dirty="0"/>
          </a:p>
        </p:txBody>
      </p:sp>
      <p:sp>
        <p:nvSpPr>
          <p:cNvPr id="8" name="Text 6"/>
          <p:cNvSpPr/>
          <p:nvPr/>
        </p:nvSpPr>
        <p:spPr>
          <a:xfrm>
            <a:off x="1005840" y="2395728"/>
            <a:ext cx="73152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Analyze 70+ years of NBA player statistics: scoring trends, career trajectories, league evolution</a:t>
            </a:r>
            <a:endParaRPr lang="en-US" sz="1300" dirty="0"/>
          </a:p>
        </p:txBody>
      </p:sp>
      <p:sp>
        <p:nvSpPr>
          <p:cNvPr id="9" name="Shape 7"/>
          <p:cNvSpPr/>
          <p:nvPr/>
        </p:nvSpPr>
        <p:spPr>
          <a:xfrm>
            <a:off x="731520" y="3017520"/>
            <a:ext cx="54864" cy="640080"/>
          </a:xfrm>
          <a:prstGeom prst="rect">
            <a:avLst/>
          </a:prstGeom>
          <a:solidFill>
            <a:srgbClr val="1C7293"/>
          </a:solidFill>
          <a:ln/>
        </p:spPr>
        <p:txBody>
          <a:bodyPr/>
          <a:lstStyle/>
          <a:p>
            <a:endParaRPr lang="en-US"/>
          </a:p>
        </p:txBody>
      </p:sp>
      <p:sp>
        <p:nvSpPr>
          <p:cNvPr id="10" name="Text 8"/>
          <p:cNvSpPr/>
          <p:nvPr/>
        </p:nvSpPr>
        <p:spPr>
          <a:xfrm>
            <a:off x="1005840" y="3017520"/>
            <a:ext cx="7315200" cy="320040"/>
          </a:xfrm>
          <a:prstGeom prst="rect">
            <a:avLst/>
          </a:prstGeom>
          <a:noFill/>
          <a:ln/>
        </p:spPr>
        <p:txBody>
          <a:bodyPr wrap="square" lIns="0" tIns="0" rIns="0" bIns="0"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Salary Prediction</a:t>
            </a:r>
            <a:endParaRPr lang="en-US" sz="1600" dirty="0"/>
          </a:p>
        </p:txBody>
      </p:sp>
      <p:sp>
        <p:nvSpPr>
          <p:cNvPr id="11" name="Text 9"/>
          <p:cNvSpPr/>
          <p:nvPr/>
        </p:nvSpPr>
        <p:spPr>
          <a:xfrm>
            <a:off x="1005840" y="3310128"/>
            <a:ext cx="73152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Train ML models to predict player salaries from stats, identifying overpaid and undervalued players</a:t>
            </a:r>
            <a:endParaRPr lang="en-US" sz="1300" dirty="0"/>
          </a:p>
        </p:txBody>
      </p:sp>
      <p:sp>
        <p:nvSpPr>
          <p:cNvPr id="12" name="Shape 10"/>
          <p:cNvSpPr/>
          <p:nvPr/>
        </p:nvSpPr>
        <p:spPr>
          <a:xfrm>
            <a:off x="731520" y="3931920"/>
            <a:ext cx="54864" cy="640080"/>
          </a:xfrm>
          <a:prstGeom prst="rect">
            <a:avLst/>
          </a:prstGeom>
          <a:solidFill>
            <a:srgbClr val="1C7293"/>
          </a:solidFill>
          <a:ln/>
        </p:spPr>
        <p:txBody>
          <a:bodyPr/>
          <a:lstStyle/>
          <a:p>
            <a:endParaRPr lang="en-US"/>
          </a:p>
        </p:txBody>
      </p:sp>
      <p:sp>
        <p:nvSpPr>
          <p:cNvPr id="13" name="Text 11"/>
          <p:cNvSpPr/>
          <p:nvPr/>
        </p:nvSpPr>
        <p:spPr>
          <a:xfrm>
            <a:off x="1005840" y="3931920"/>
            <a:ext cx="7315200" cy="320040"/>
          </a:xfrm>
          <a:prstGeom prst="rect">
            <a:avLst/>
          </a:prstGeom>
          <a:noFill/>
          <a:ln/>
        </p:spPr>
        <p:txBody>
          <a:bodyPr wrap="square" lIns="0" tIns="0" rIns="0" bIns="0"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Interactive Dashboard</a:t>
            </a:r>
            <a:endParaRPr lang="en-US" sz="1600" dirty="0"/>
          </a:p>
        </p:txBody>
      </p:sp>
      <p:sp>
        <p:nvSpPr>
          <p:cNvPr id="14" name="Text 12"/>
          <p:cNvSpPr/>
          <p:nvPr/>
        </p:nvSpPr>
        <p:spPr>
          <a:xfrm>
            <a:off x="1005840" y="4224528"/>
            <a:ext cx="7315200" cy="3200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Deliver a Looker Studio dashboard with filterable views for exploring player and team data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rtlCol="0" anchor="ctr"/>
          <a:lstStyle/>
          <a:p>
            <a:pPr marL="0" indent="0">
              <a:buNone/>
            </a:pPr>
            <a:r>
              <a:rPr lang="en-US" sz="3200" b="1" dirty="0">
                <a:solidFill>
                  <a:srgbClr val="1E293B"/>
                </a:solidFill>
                <a:latin typeface="Trebuchet MS" pitchFamily="34" charset="0"/>
                <a:ea typeface="Trebuchet MS" pitchFamily="34" charset="-122"/>
                <a:cs typeface="Trebuchet MS" pitchFamily="34" charset="-120"/>
              </a:rPr>
              <a:t>Dataset Overview</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1371600"/>
        </p:xfrm>
        <a:graphic>
          <a:graphicData uri="http://schemas.openxmlformats.org/drawingml/2006/table">
            <a:tbl>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65A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Records</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65A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Size</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65A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Coverage</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Player Box Scores</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1,183,956</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158 MB</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1950–2022</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Player Season Stats</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F4F8"/>
                    </a:solidFill>
                  </a:tcPr>
                </a:tc>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25,732</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F4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4.5 MB</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F4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1950–2022</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F4F8"/>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Player Salaries</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15,203</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740 KB</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1990–2023</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Team Payroll</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F4F8"/>
                    </a:solidFill>
                  </a:tcPr>
                </a:tc>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966</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F4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43 KB</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F4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1990–2023</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F4F8"/>
                    </a:solidFill>
                  </a:tcPr>
                </a:tc>
                <a:extLst>
                  <a:ext uri="{0D108BD9-81ED-4DB2-BD59-A6C34878D82A}">
                    <a16:rowId xmlns:a16="http://schemas.microsoft.com/office/drawing/2014/main" val="10004"/>
                  </a:ext>
                </a:extLst>
              </a:tr>
            </a:tbl>
          </a:graphicData>
        </a:graphic>
      </p:graphicFrame>
      <p:sp>
        <p:nvSpPr>
          <p:cNvPr id="3" name="Shape 1"/>
          <p:cNvSpPr/>
          <p:nvPr/>
        </p:nvSpPr>
        <p:spPr>
          <a:xfrm>
            <a:off x="1097280" y="3474720"/>
            <a:ext cx="2011680" cy="1188720"/>
          </a:xfrm>
          <a:prstGeom prst="rect">
            <a:avLst/>
          </a:prstGeom>
          <a:solidFill>
            <a:srgbClr val="E8F4F8"/>
          </a:solidFill>
          <a:ln/>
          <a:effectLst>
            <a:outerShdw blurRad="76200" dist="25400" dir="8100000" algn="bl" rotWithShape="0">
              <a:srgbClr val="000000">
                <a:alpha val="12000"/>
              </a:srgbClr>
            </a:outerShdw>
          </a:effectLst>
        </p:spPr>
        <p:txBody>
          <a:bodyPr/>
          <a:lstStyle/>
          <a:p>
            <a:endParaRPr lang="en-US"/>
          </a:p>
        </p:txBody>
      </p:sp>
      <p:sp>
        <p:nvSpPr>
          <p:cNvPr id="5" name="Text 2"/>
          <p:cNvSpPr/>
          <p:nvPr/>
        </p:nvSpPr>
        <p:spPr>
          <a:xfrm>
            <a:off x="1097280" y="3566160"/>
            <a:ext cx="2011680" cy="640080"/>
          </a:xfrm>
          <a:prstGeom prst="rect">
            <a:avLst/>
          </a:prstGeom>
          <a:noFill/>
          <a:ln/>
        </p:spPr>
        <p:txBody>
          <a:bodyPr wrap="square" rtlCol="0" anchor="ctr"/>
          <a:lstStyle/>
          <a:p>
            <a:pPr marL="0" indent="0" algn="ctr">
              <a:buNone/>
            </a:pPr>
            <a:r>
              <a:rPr lang="en-US" sz="2800" b="1" dirty="0">
                <a:solidFill>
                  <a:srgbClr val="065A82"/>
                </a:solidFill>
                <a:latin typeface="Trebuchet MS" pitchFamily="34" charset="0"/>
                <a:ea typeface="Trebuchet MS" pitchFamily="34" charset="-122"/>
                <a:cs typeface="Trebuchet MS" pitchFamily="34" charset="-120"/>
              </a:rPr>
              <a:t>1M+</a:t>
            </a:r>
            <a:endParaRPr lang="en-US" sz="2800" dirty="0"/>
          </a:p>
        </p:txBody>
      </p:sp>
      <p:sp>
        <p:nvSpPr>
          <p:cNvPr id="6" name="Text 3"/>
          <p:cNvSpPr/>
          <p:nvPr/>
        </p:nvSpPr>
        <p:spPr>
          <a:xfrm>
            <a:off x="1097280" y="4160520"/>
            <a:ext cx="2011680" cy="36576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Game Records</a:t>
            </a:r>
            <a:endParaRPr lang="en-US" sz="1200" dirty="0"/>
          </a:p>
        </p:txBody>
      </p:sp>
      <p:sp>
        <p:nvSpPr>
          <p:cNvPr id="7" name="Shape 4"/>
          <p:cNvSpPr/>
          <p:nvPr/>
        </p:nvSpPr>
        <p:spPr>
          <a:xfrm>
            <a:off x="3657600" y="3474720"/>
            <a:ext cx="2011680" cy="1188720"/>
          </a:xfrm>
          <a:prstGeom prst="rect">
            <a:avLst/>
          </a:prstGeom>
          <a:solidFill>
            <a:srgbClr val="E8F4F8"/>
          </a:solidFill>
          <a:ln/>
          <a:effectLst>
            <a:outerShdw blurRad="76200" dist="25400" dir="8100000" algn="bl" rotWithShape="0">
              <a:srgbClr val="000000">
                <a:alpha val="12000"/>
              </a:srgbClr>
            </a:outerShdw>
          </a:effectLst>
        </p:spPr>
        <p:txBody>
          <a:bodyPr/>
          <a:lstStyle/>
          <a:p>
            <a:endParaRPr lang="en-US"/>
          </a:p>
        </p:txBody>
      </p:sp>
      <p:sp>
        <p:nvSpPr>
          <p:cNvPr id="8" name="Text 5"/>
          <p:cNvSpPr/>
          <p:nvPr/>
        </p:nvSpPr>
        <p:spPr>
          <a:xfrm>
            <a:off x="3657600" y="3566160"/>
            <a:ext cx="2011680" cy="640080"/>
          </a:xfrm>
          <a:prstGeom prst="rect">
            <a:avLst/>
          </a:prstGeom>
          <a:noFill/>
          <a:ln/>
        </p:spPr>
        <p:txBody>
          <a:bodyPr wrap="square" rtlCol="0" anchor="ctr"/>
          <a:lstStyle/>
          <a:p>
            <a:pPr marL="0" indent="0" algn="ctr">
              <a:buNone/>
            </a:pPr>
            <a:r>
              <a:rPr lang="en-US" sz="2800" b="1" dirty="0">
                <a:solidFill>
                  <a:srgbClr val="065A82"/>
                </a:solidFill>
                <a:latin typeface="Trebuchet MS" pitchFamily="34" charset="0"/>
                <a:ea typeface="Trebuchet MS" pitchFamily="34" charset="-122"/>
                <a:cs typeface="Trebuchet MS" pitchFamily="34" charset="-120"/>
              </a:rPr>
              <a:t>70+</a:t>
            </a:r>
            <a:endParaRPr lang="en-US" sz="2800" dirty="0"/>
          </a:p>
        </p:txBody>
      </p:sp>
      <p:sp>
        <p:nvSpPr>
          <p:cNvPr id="9" name="Text 6"/>
          <p:cNvSpPr/>
          <p:nvPr/>
        </p:nvSpPr>
        <p:spPr>
          <a:xfrm>
            <a:off x="3657600" y="4160520"/>
            <a:ext cx="2011680" cy="36576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Years of Data</a:t>
            </a:r>
            <a:endParaRPr lang="en-US" sz="1200" dirty="0"/>
          </a:p>
        </p:txBody>
      </p:sp>
      <p:sp>
        <p:nvSpPr>
          <p:cNvPr id="10" name="Shape 7"/>
          <p:cNvSpPr/>
          <p:nvPr/>
        </p:nvSpPr>
        <p:spPr>
          <a:xfrm>
            <a:off x="6217920" y="3474720"/>
            <a:ext cx="2011680" cy="1188720"/>
          </a:xfrm>
          <a:prstGeom prst="rect">
            <a:avLst/>
          </a:prstGeom>
          <a:solidFill>
            <a:srgbClr val="E8F4F8"/>
          </a:solidFill>
          <a:ln/>
          <a:effectLst>
            <a:outerShdw blurRad="76200" dist="25400" dir="8100000" algn="bl" rotWithShape="0">
              <a:srgbClr val="000000">
                <a:alpha val="12000"/>
              </a:srgbClr>
            </a:outerShdw>
          </a:effectLst>
        </p:spPr>
        <p:txBody>
          <a:bodyPr/>
          <a:lstStyle/>
          <a:p>
            <a:endParaRPr lang="en-US"/>
          </a:p>
        </p:txBody>
      </p:sp>
      <p:sp>
        <p:nvSpPr>
          <p:cNvPr id="11" name="Text 8"/>
          <p:cNvSpPr/>
          <p:nvPr/>
        </p:nvSpPr>
        <p:spPr>
          <a:xfrm>
            <a:off x="6217920" y="3566160"/>
            <a:ext cx="2011680" cy="640080"/>
          </a:xfrm>
          <a:prstGeom prst="rect">
            <a:avLst/>
          </a:prstGeom>
          <a:noFill/>
          <a:ln/>
        </p:spPr>
        <p:txBody>
          <a:bodyPr wrap="square" rtlCol="0" anchor="ctr"/>
          <a:lstStyle/>
          <a:p>
            <a:pPr marL="0" indent="0" algn="ctr">
              <a:buNone/>
            </a:pPr>
            <a:r>
              <a:rPr lang="en-US" sz="2800" b="1" dirty="0">
                <a:solidFill>
                  <a:srgbClr val="065A82"/>
                </a:solidFill>
                <a:latin typeface="Trebuchet MS" pitchFamily="34" charset="0"/>
                <a:ea typeface="Trebuchet MS" pitchFamily="34" charset="-122"/>
                <a:cs typeface="Trebuchet MS" pitchFamily="34" charset="-120"/>
              </a:rPr>
              <a:t>4</a:t>
            </a:r>
            <a:endParaRPr lang="en-US" sz="2800" dirty="0"/>
          </a:p>
        </p:txBody>
      </p:sp>
      <p:sp>
        <p:nvSpPr>
          <p:cNvPr id="12" name="Text 9"/>
          <p:cNvSpPr/>
          <p:nvPr/>
        </p:nvSpPr>
        <p:spPr>
          <a:xfrm>
            <a:off x="6217920" y="4160520"/>
            <a:ext cx="2011680" cy="36576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Linked Datasets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rtlCol="0" anchor="ctr"/>
          <a:lstStyle/>
          <a:p>
            <a:pPr marL="0" indent="0">
              <a:buNone/>
            </a:pPr>
            <a:r>
              <a:rPr lang="en-US" sz="3200" b="1" dirty="0">
                <a:solidFill>
                  <a:srgbClr val="1E293B"/>
                </a:solidFill>
                <a:latin typeface="Trebuchet MS" pitchFamily="34" charset="0"/>
                <a:ea typeface="Trebuchet MS" pitchFamily="34" charset="-122"/>
                <a:cs typeface="Trebuchet MS" pitchFamily="34" charset="-120"/>
              </a:rPr>
              <a:t>Pipeline Architecture</a:t>
            </a:r>
            <a:endParaRPr lang="en-US" sz="3200" dirty="0"/>
          </a:p>
        </p:txBody>
      </p:sp>
      <p:sp>
        <p:nvSpPr>
          <p:cNvPr id="3" name="Shape 1"/>
          <p:cNvSpPr/>
          <p:nvPr/>
        </p:nvSpPr>
        <p:spPr>
          <a:xfrm>
            <a:off x="274320" y="1371600"/>
            <a:ext cx="1280160" cy="1463040"/>
          </a:xfrm>
          <a:prstGeom prst="rect">
            <a:avLst/>
          </a:prstGeom>
          <a:solidFill>
            <a:srgbClr val="64748B"/>
          </a:solidFill>
          <a:ln/>
          <a:effectLst>
            <a:outerShdw blurRad="76200" dist="25400" dir="8100000" algn="bl" rotWithShape="0">
              <a:srgbClr val="000000">
                <a:alpha val="12000"/>
              </a:srgbClr>
            </a:outerShdw>
          </a:effectLst>
        </p:spPr>
        <p:txBody>
          <a:bodyPr/>
          <a:lstStyle/>
          <a:p>
            <a:endParaRPr lang="en-US"/>
          </a:p>
        </p:txBody>
      </p:sp>
      <p:sp>
        <p:nvSpPr>
          <p:cNvPr id="4" name="Text 2"/>
          <p:cNvSpPr/>
          <p:nvPr/>
        </p:nvSpPr>
        <p:spPr>
          <a:xfrm>
            <a:off x="274320" y="1463040"/>
            <a:ext cx="1280160" cy="7315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Raw CSVs</a:t>
            </a:r>
            <a:endParaRPr lang="en-US" sz="1300" dirty="0"/>
          </a:p>
        </p:txBody>
      </p:sp>
      <p:sp>
        <p:nvSpPr>
          <p:cNvPr id="5" name="Text 3"/>
          <p:cNvSpPr/>
          <p:nvPr/>
        </p:nvSpPr>
        <p:spPr>
          <a:xfrm>
            <a:off x="274320" y="3017520"/>
            <a:ext cx="1280160" cy="640080"/>
          </a:xfrm>
          <a:prstGeom prst="rect">
            <a:avLst/>
          </a:prstGeom>
          <a:noFill/>
          <a:ln/>
        </p:spPr>
        <p:txBody>
          <a:bodyPr wrap="square"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4 datasets</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164 MB</a:t>
            </a:r>
            <a:endParaRPr lang="en-US" sz="1000" dirty="0"/>
          </a:p>
        </p:txBody>
      </p:sp>
      <p:sp>
        <p:nvSpPr>
          <p:cNvPr id="6" name="Text 4"/>
          <p:cNvSpPr/>
          <p:nvPr/>
        </p:nvSpPr>
        <p:spPr>
          <a:xfrm>
            <a:off x="1508760" y="1737360"/>
            <a:ext cx="274320" cy="457200"/>
          </a:xfrm>
          <a:prstGeom prst="rect">
            <a:avLst/>
          </a:prstGeom>
          <a:noFill/>
          <a:ln/>
        </p:spPr>
        <p:txBody>
          <a:bodyPr wrap="square" rtlCol="0" anchor="ctr"/>
          <a:lstStyle/>
          <a:p>
            <a:pPr marL="0" indent="0" algn="ctr">
              <a:buNone/>
            </a:pPr>
            <a:r>
              <a:rPr lang="en-US" sz="2200" dirty="0">
                <a:solidFill>
                  <a:srgbClr val="64748B"/>
                </a:solidFill>
              </a:rPr>
              <a:t>→</a:t>
            </a:r>
            <a:endParaRPr lang="en-US" sz="2200" dirty="0"/>
          </a:p>
        </p:txBody>
      </p:sp>
      <p:sp>
        <p:nvSpPr>
          <p:cNvPr id="7" name="Shape 5"/>
          <p:cNvSpPr/>
          <p:nvPr/>
        </p:nvSpPr>
        <p:spPr>
          <a:xfrm>
            <a:off x="1737360" y="1371600"/>
            <a:ext cx="1280160" cy="1463040"/>
          </a:xfrm>
          <a:prstGeom prst="rect">
            <a:avLst/>
          </a:prstGeom>
          <a:solidFill>
            <a:srgbClr val="0891B2"/>
          </a:solidFill>
          <a:ln/>
          <a:effectLst>
            <a:outerShdw blurRad="76200" dist="25400" dir="8100000" algn="bl" rotWithShape="0">
              <a:srgbClr val="000000">
                <a:alpha val="12000"/>
              </a:srgbClr>
            </a:outerShdw>
          </a:effectLst>
        </p:spPr>
        <p:txBody>
          <a:bodyPr/>
          <a:lstStyle/>
          <a:p>
            <a:endParaRPr lang="en-US"/>
          </a:p>
        </p:txBody>
      </p:sp>
      <p:sp>
        <p:nvSpPr>
          <p:cNvPr id="8" name="Text 6"/>
          <p:cNvSpPr/>
          <p:nvPr/>
        </p:nvSpPr>
        <p:spPr>
          <a:xfrm>
            <a:off x="1737360" y="1463040"/>
            <a:ext cx="1280160" cy="7315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Cloud</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Storage</a:t>
            </a:r>
            <a:endParaRPr lang="en-US" sz="1300" dirty="0"/>
          </a:p>
        </p:txBody>
      </p:sp>
      <p:sp>
        <p:nvSpPr>
          <p:cNvPr id="9" name="Text 7"/>
          <p:cNvSpPr/>
          <p:nvPr/>
        </p:nvSpPr>
        <p:spPr>
          <a:xfrm>
            <a:off x="1737360" y="3017520"/>
            <a:ext cx="1280160" cy="640080"/>
          </a:xfrm>
          <a:prstGeom prst="rect">
            <a:avLst/>
          </a:prstGeom>
          <a:noFill/>
          <a:ln/>
        </p:spPr>
        <p:txBody>
          <a:bodyPr wrap="square"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GCS bucket</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raw/ + processed/</a:t>
            </a:r>
            <a:endParaRPr lang="en-US" sz="1000" dirty="0"/>
          </a:p>
        </p:txBody>
      </p:sp>
      <p:sp>
        <p:nvSpPr>
          <p:cNvPr id="10" name="Text 8"/>
          <p:cNvSpPr/>
          <p:nvPr/>
        </p:nvSpPr>
        <p:spPr>
          <a:xfrm>
            <a:off x="2971800" y="1737360"/>
            <a:ext cx="274320" cy="457200"/>
          </a:xfrm>
          <a:prstGeom prst="rect">
            <a:avLst/>
          </a:prstGeom>
          <a:noFill/>
          <a:ln/>
        </p:spPr>
        <p:txBody>
          <a:bodyPr wrap="square" rtlCol="0" anchor="ctr"/>
          <a:lstStyle/>
          <a:p>
            <a:pPr marL="0" indent="0" algn="ctr">
              <a:buNone/>
            </a:pPr>
            <a:r>
              <a:rPr lang="en-US" sz="2200" dirty="0">
                <a:solidFill>
                  <a:srgbClr val="64748B"/>
                </a:solidFill>
              </a:rPr>
              <a:t>→</a:t>
            </a:r>
            <a:endParaRPr lang="en-US" sz="2200" dirty="0"/>
          </a:p>
        </p:txBody>
      </p:sp>
      <p:sp>
        <p:nvSpPr>
          <p:cNvPr id="11" name="Shape 9"/>
          <p:cNvSpPr/>
          <p:nvPr/>
        </p:nvSpPr>
        <p:spPr>
          <a:xfrm>
            <a:off x="3200400" y="1371600"/>
            <a:ext cx="1280160" cy="1463040"/>
          </a:xfrm>
          <a:prstGeom prst="rect">
            <a:avLst/>
          </a:prstGeom>
          <a:solidFill>
            <a:srgbClr val="7C3AED"/>
          </a:solidFill>
          <a:ln/>
          <a:effectLst>
            <a:outerShdw blurRad="76200" dist="25400" dir="8100000" algn="bl" rotWithShape="0">
              <a:srgbClr val="000000">
                <a:alpha val="12000"/>
              </a:srgbClr>
            </a:outerShdw>
          </a:effectLst>
        </p:spPr>
        <p:txBody>
          <a:bodyPr/>
          <a:lstStyle/>
          <a:p>
            <a:endParaRPr lang="en-US"/>
          </a:p>
        </p:txBody>
      </p:sp>
      <p:sp>
        <p:nvSpPr>
          <p:cNvPr id="12" name="Text 10"/>
          <p:cNvSpPr/>
          <p:nvPr/>
        </p:nvSpPr>
        <p:spPr>
          <a:xfrm>
            <a:off x="3200400" y="1463040"/>
            <a:ext cx="1280160" cy="7315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Dataproc</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(PySpark)</a:t>
            </a:r>
            <a:endParaRPr lang="en-US" sz="1300" dirty="0"/>
          </a:p>
        </p:txBody>
      </p:sp>
      <p:sp>
        <p:nvSpPr>
          <p:cNvPr id="13" name="Text 11"/>
          <p:cNvSpPr/>
          <p:nvPr/>
        </p:nvSpPr>
        <p:spPr>
          <a:xfrm>
            <a:off x="3200400" y="3017520"/>
            <a:ext cx="1280160" cy="640080"/>
          </a:xfrm>
          <a:prstGeom prst="rect">
            <a:avLst/>
          </a:prstGeom>
          <a:noFill/>
          <a:ln/>
        </p:spPr>
        <p:txBody>
          <a:bodyPr wrap="square"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Clean, dedup</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compute features</a:t>
            </a:r>
            <a:endParaRPr lang="en-US" sz="1000" dirty="0"/>
          </a:p>
        </p:txBody>
      </p:sp>
      <p:sp>
        <p:nvSpPr>
          <p:cNvPr id="14" name="Text 12"/>
          <p:cNvSpPr/>
          <p:nvPr/>
        </p:nvSpPr>
        <p:spPr>
          <a:xfrm>
            <a:off x="4434840" y="1737360"/>
            <a:ext cx="274320" cy="457200"/>
          </a:xfrm>
          <a:prstGeom prst="rect">
            <a:avLst/>
          </a:prstGeom>
          <a:noFill/>
          <a:ln/>
        </p:spPr>
        <p:txBody>
          <a:bodyPr wrap="square" rtlCol="0" anchor="ctr"/>
          <a:lstStyle/>
          <a:p>
            <a:pPr marL="0" indent="0" algn="ctr">
              <a:buNone/>
            </a:pPr>
            <a:r>
              <a:rPr lang="en-US" sz="2200" dirty="0">
                <a:solidFill>
                  <a:srgbClr val="64748B"/>
                </a:solidFill>
              </a:rPr>
              <a:t>→</a:t>
            </a:r>
            <a:endParaRPr lang="en-US" sz="2200" dirty="0"/>
          </a:p>
        </p:txBody>
      </p:sp>
      <p:sp>
        <p:nvSpPr>
          <p:cNvPr id="15" name="Shape 13"/>
          <p:cNvSpPr/>
          <p:nvPr/>
        </p:nvSpPr>
        <p:spPr>
          <a:xfrm>
            <a:off x="4663440" y="1371600"/>
            <a:ext cx="1280160" cy="1463040"/>
          </a:xfrm>
          <a:prstGeom prst="rect">
            <a:avLst/>
          </a:prstGeom>
          <a:solidFill>
            <a:srgbClr val="065A82"/>
          </a:solidFill>
          <a:ln/>
          <a:effectLst>
            <a:outerShdw blurRad="76200" dist="25400" dir="8100000" algn="bl" rotWithShape="0">
              <a:srgbClr val="000000">
                <a:alpha val="12000"/>
              </a:srgbClr>
            </a:outerShdw>
          </a:effectLst>
        </p:spPr>
        <p:txBody>
          <a:bodyPr/>
          <a:lstStyle/>
          <a:p>
            <a:endParaRPr lang="en-US"/>
          </a:p>
        </p:txBody>
      </p:sp>
      <p:sp>
        <p:nvSpPr>
          <p:cNvPr id="16" name="Text 14"/>
          <p:cNvSpPr/>
          <p:nvPr/>
        </p:nvSpPr>
        <p:spPr>
          <a:xfrm>
            <a:off x="4663440" y="1463040"/>
            <a:ext cx="1280160" cy="7315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BigQuery</a:t>
            </a:r>
            <a:endParaRPr lang="en-US" sz="1300" dirty="0"/>
          </a:p>
        </p:txBody>
      </p:sp>
      <p:sp>
        <p:nvSpPr>
          <p:cNvPr id="17" name="Text 15"/>
          <p:cNvSpPr/>
          <p:nvPr/>
        </p:nvSpPr>
        <p:spPr>
          <a:xfrm>
            <a:off x="4663440" y="3017520"/>
            <a:ext cx="1280160" cy="640080"/>
          </a:xfrm>
          <a:prstGeom prst="rect">
            <a:avLst/>
          </a:prstGeom>
          <a:noFill/>
          <a:ln/>
        </p:spPr>
        <p:txBody>
          <a:bodyPr wrap="square"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4 tables</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6 views</a:t>
            </a:r>
            <a:endParaRPr lang="en-US" sz="1000" dirty="0"/>
          </a:p>
        </p:txBody>
      </p:sp>
      <p:sp>
        <p:nvSpPr>
          <p:cNvPr id="18" name="Text 16"/>
          <p:cNvSpPr/>
          <p:nvPr/>
        </p:nvSpPr>
        <p:spPr>
          <a:xfrm>
            <a:off x="5897880" y="1737360"/>
            <a:ext cx="274320" cy="457200"/>
          </a:xfrm>
          <a:prstGeom prst="rect">
            <a:avLst/>
          </a:prstGeom>
          <a:noFill/>
          <a:ln/>
        </p:spPr>
        <p:txBody>
          <a:bodyPr wrap="square" rtlCol="0" anchor="ctr"/>
          <a:lstStyle/>
          <a:p>
            <a:pPr marL="0" indent="0" algn="ctr">
              <a:buNone/>
            </a:pPr>
            <a:r>
              <a:rPr lang="en-US" sz="2200" dirty="0">
                <a:solidFill>
                  <a:srgbClr val="64748B"/>
                </a:solidFill>
              </a:rPr>
              <a:t>→</a:t>
            </a:r>
            <a:endParaRPr lang="en-US" sz="2200" dirty="0"/>
          </a:p>
        </p:txBody>
      </p:sp>
      <p:sp>
        <p:nvSpPr>
          <p:cNvPr id="19" name="Shape 17"/>
          <p:cNvSpPr/>
          <p:nvPr/>
        </p:nvSpPr>
        <p:spPr>
          <a:xfrm>
            <a:off x="6126480" y="1371600"/>
            <a:ext cx="1280160" cy="1463040"/>
          </a:xfrm>
          <a:prstGeom prst="rect">
            <a:avLst/>
          </a:prstGeom>
          <a:solidFill>
            <a:srgbClr val="059669"/>
          </a:solidFill>
          <a:ln/>
          <a:effectLst>
            <a:outerShdw blurRad="76200" dist="25400" dir="8100000" algn="bl" rotWithShape="0">
              <a:srgbClr val="000000">
                <a:alpha val="12000"/>
              </a:srgbClr>
            </a:outerShdw>
          </a:effectLst>
        </p:spPr>
        <p:txBody>
          <a:bodyPr/>
          <a:lstStyle/>
          <a:p>
            <a:endParaRPr lang="en-US"/>
          </a:p>
        </p:txBody>
      </p:sp>
      <p:sp>
        <p:nvSpPr>
          <p:cNvPr id="20" name="Text 18"/>
          <p:cNvSpPr/>
          <p:nvPr/>
        </p:nvSpPr>
        <p:spPr>
          <a:xfrm>
            <a:off x="6126480" y="1463040"/>
            <a:ext cx="1280160" cy="7315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BigQuery</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ML</a:t>
            </a:r>
            <a:endParaRPr lang="en-US" sz="1300" dirty="0"/>
          </a:p>
        </p:txBody>
      </p:sp>
      <p:sp>
        <p:nvSpPr>
          <p:cNvPr id="21" name="Text 19"/>
          <p:cNvSpPr/>
          <p:nvPr/>
        </p:nvSpPr>
        <p:spPr>
          <a:xfrm>
            <a:off x="6126480" y="3017520"/>
            <a:ext cx="1280160" cy="640080"/>
          </a:xfrm>
          <a:prstGeom prst="rect">
            <a:avLst/>
          </a:prstGeom>
          <a:noFill/>
          <a:ln/>
        </p:spPr>
        <p:txBody>
          <a:bodyPr wrap="square"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Linear Reg</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XGBoost</a:t>
            </a:r>
            <a:endParaRPr lang="en-US" sz="1000" dirty="0"/>
          </a:p>
        </p:txBody>
      </p:sp>
      <p:sp>
        <p:nvSpPr>
          <p:cNvPr id="22" name="Text 20"/>
          <p:cNvSpPr/>
          <p:nvPr/>
        </p:nvSpPr>
        <p:spPr>
          <a:xfrm>
            <a:off x="7360920" y="1737360"/>
            <a:ext cx="274320" cy="457200"/>
          </a:xfrm>
          <a:prstGeom prst="rect">
            <a:avLst/>
          </a:prstGeom>
          <a:noFill/>
          <a:ln/>
        </p:spPr>
        <p:txBody>
          <a:bodyPr wrap="square" rtlCol="0" anchor="ctr"/>
          <a:lstStyle/>
          <a:p>
            <a:pPr marL="0" indent="0" algn="ctr">
              <a:buNone/>
            </a:pPr>
            <a:r>
              <a:rPr lang="en-US" sz="2200" dirty="0">
                <a:solidFill>
                  <a:srgbClr val="64748B"/>
                </a:solidFill>
              </a:rPr>
              <a:t>→</a:t>
            </a:r>
            <a:endParaRPr lang="en-US" sz="2200" dirty="0"/>
          </a:p>
        </p:txBody>
      </p:sp>
      <p:sp>
        <p:nvSpPr>
          <p:cNvPr id="23" name="Shape 21"/>
          <p:cNvSpPr/>
          <p:nvPr/>
        </p:nvSpPr>
        <p:spPr>
          <a:xfrm>
            <a:off x="7589520" y="1371600"/>
            <a:ext cx="1280160" cy="1463040"/>
          </a:xfrm>
          <a:prstGeom prst="rect">
            <a:avLst/>
          </a:prstGeom>
          <a:solidFill>
            <a:srgbClr val="DB2777"/>
          </a:solidFill>
          <a:ln/>
          <a:effectLst>
            <a:outerShdw blurRad="76200" dist="25400" dir="8100000" algn="bl" rotWithShape="0">
              <a:srgbClr val="000000">
                <a:alpha val="12000"/>
              </a:srgbClr>
            </a:outerShdw>
          </a:effectLst>
        </p:spPr>
        <p:txBody>
          <a:bodyPr/>
          <a:lstStyle/>
          <a:p>
            <a:endParaRPr lang="en-US"/>
          </a:p>
        </p:txBody>
      </p:sp>
      <p:sp>
        <p:nvSpPr>
          <p:cNvPr id="24" name="Text 22"/>
          <p:cNvSpPr/>
          <p:nvPr/>
        </p:nvSpPr>
        <p:spPr>
          <a:xfrm>
            <a:off x="7589520" y="1463040"/>
            <a:ext cx="1280160" cy="7315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Looker</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Studio</a:t>
            </a:r>
            <a:endParaRPr lang="en-US" sz="1300" dirty="0"/>
          </a:p>
        </p:txBody>
      </p:sp>
      <p:sp>
        <p:nvSpPr>
          <p:cNvPr id="25" name="Text 23"/>
          <p:cNvSpPr/>
          <p:nvPr/>
        </p:nvSpPr>
        <p:spPr>
          <a:xfrm>
            <a:off x="7589520" y="3017520"/>
            <a:ext cx="1280160" cy="640080"/>
          </a:xfrm>
          <a:prstGeom prst="rect">
            <a:avLst/>
          </a:prstGeom>
          <a:noFill/>
          <a:ln/>
        </p:spPr>
        <p:txBody>
          <a:bodyPr wrap="square"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5-page</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dashboard</a:t>
            </a:r>
            <a:endParaRPr lang="en-US" sz="1000" dirty="0"/>
          </a:p>
        </p:txBody>
      </p:sp>
      <p:sp>
        <p:nvSpPr>
          <p:cNvPr id="26" name="Text 24"/>
          <p:cNvSpPr/>
          <p:nvPr/>
        </p:nvSpPr>
        <p:spPr>
          <a:xfrm>
            <a:off x="731520" y="3677194"/>
            <a:ext cx="2743200" cy="36576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GCP Services Used</a:t>
            </a:r>
            <a:endParaRPr lang="en-US" sz="1400" dirty="0"/>
          </a:p>
        </p:txBody>
      </p:sp>
      <p:sp>
        <p:nvSpPr>
          <p:cNvPr id="27" name="Text 25"/>
          <p:cNvSpPr/>
          <p:nvPr/>
        </p:nvSpPr>
        <p:spPr>
          <a:xfrm>
            <a:off x="731520" y="4042954"/>
            <a:ext cx="3657600" cy="914400"/>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Cloud Storage</a:t>
            </a:r>
            <a:endParaRPr lang="en-US" sz="1200" dirty="0"/>
          </a:p>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Dataproc (PySpark)</a:t>
            </a:r>
            <a:endParaRPr lang="en-US" sz="1200" dirty="0"/>
          </a:p>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BigQuery + BigQuery ML</a:t>
            </a:r>
            <a:endParaRPr lang="en-US" sz="1200" dirty="0"/>
          </a:p>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Looker Studio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rtlCol="0" anchor="ctr"/>
          <a:lstStyle/>
          <a:p>
            <a:pPr marL="0" indent="0">
              <a:buNone/>
            </a:pPr>
            <a:r>
              <a:rPr lang="en-US" sz="3200" b="1" dirty="0">
                <a:solidFill>
                  <a:srgbClr val="1E293B"/>
                </a:solidFill>
                <a:latin typeface="Trebuchet MS" pitchFamily="34" charset="0"/>
                <a:ea typeface="Trebuchet MS" pitchFamily="34" charset="-122"/>
                <a:cs typeface="Trebuchet MS" pitchFamily="34" charset="-120"/>
              </a:rPr>
              <a:t>Data Processing</a:t>
            </a:r>
            <a:endParaRPr lang="en-US" sz="3200" dirty="0"/>
          </a:p>
        </p:txBody>
      </p:sp>
      <p:sp>
        <p:nvSpPr>
          <p:cNvPr id="3" name="Shape 1"/>
          <p:cNvSpPr/>
          <p:nvPr/>
        </p:nvSpPr>
        <p:spPr>
          <a:xfrm>
            <a:off x="731520" y="1097280"/>
            <a:ext cx="411480" cy="411480"/>
          </a:xfrm>
          <a:prstGeom prst="rect">
            <a:avLst/>
          </a:prstGeom>
          <a:solidFill>
            <a:srgbClr val="1C7293"/>
          </a:solidFill>
          <a:ln/>
        </p:spPr>
        <p:txBody>
          <a:bodyPr/>
          <a:lstStyle/>
          <a:p>
            <a:endParaRPr lang="en-US"/>
          </a:p>
        </p:txBody>
      </p:sp>
      <p:sp>
        <p:nvSpPr>
          <p:cNvPr id="4" name="Text 2"/>
          <p:cNvSpPr/>
          <p:nvPr/>
        </p:nvSpPr>
        <p:spPr>
          <a:xfrm>
            <a:off x="731520" y="109728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371600" y="1097280"/>
            <a:ext cx="182880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Ingestion</a:t>
            </a:r>
            <a:endParaRPr lang="en-US" sz="1400" dirty="0"/>
          </a:p>
        </p:txBody>
      </p:sp>
      <p:sp>
        <p:nvSpPr>
          <p:cNvPr id="6" name="Text 4"/>
          <p:cNvSpPr/>
          <p:nvPr/>
        </p:nvSpPr>
        <p:spPr>
          <a:xfrm>
            <a:off x="3200400" y="1097280"/>
            <a:ext cx="5486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Sourced 4 CSV datasets from Kaggle; uploaded raw files to GCS bucket</a:t>
            </a:r>
            <a:endParaRPr lang="en-US" sz="1200" dirty="0"/>
          </a:p>
        </p:txBody>
      </p:sp>
      <p:sp>
        <p:nvSpPr>
          <p:cNvPr id="7" name="Shape 5"/>
          <p:cNvSpPr/>
          <p:nvPr/>
        </p:nvSpPr>
        <p:spPr>
          <a:xfrm>
            <a:off x="731520" y="1847088"/>
            <a:ext cx="411480" cy="411480"/>
          </a:xfrm>
          <a:prstGeom prst="rect">
            <a:avLst/>
          </a:prstGeom>
          <a:solidFill>
            <a:srgbClr val="1C7293"/>
          </a:solidFill>
          <a:ln/>
        </p:spPr>
        <p:txBody>
          <a:bodyPr/>
          <a:lstStyle/>
          <a:p>
            <a:endParaRPr lang="en-US"/>
          </a:p>
        </p:txBody>
      </p:sp>
      <p:sp>
        <p:nvSpPr>
          <p:cNvPr id="8" name="Text 6"/>
          <p:cNvSpPr/>
          <p:nvPr/>
        </p:nvSpPr>
        <p:spPr>
          <a:xfrm>
            <a:off x="731520" y="1847088"/>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371600" y="1847088"/>
            <a:ext cx="182880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Cleaning</a:t>
            </a:r>
            <a:endParaRPr lang="en-US" sz="1400" dirty="0"/>
          </a:p>
        </p:txBody>
      </p:sp>
      <p:sp>
        <p:nvSpPr>
          <p:cNvPr id="10" name="Text 8"/>
          <p:cNvSpPr/>
          <p:nvPr/>
        </p:nvSpPr>
        <p:spPr>
          <a:xfrm>
            <a:off x="3200400" y="1847088"/>
            <a:ext cx="5486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Parsed dates, cast numeric types, stripped currency formatting</a:t>
            </a:r>
            <a:endParaRPr lang="en-US" sz="1200" dirty="0"/>
          </a:p>
        </p:txBody>
      </p:sp>
      <p:sp>
        <p:nvSpPr>
          <p:cNvPr id="11" name="Shape 9"/>
          <p:cNvSpPr/>
          <p:nvPr/>
        </p:nvSpPr>
        <p:spPr>
          <a:xfrm>
            <a:off x="731520" y="2596896"/>
            <a:ext cx="411480" cy="411480"/>
          </a:xfrm>
          <a:prstGeom prst="rect">
            <a:avLst/>
          </a:prstGeom>
          <a:solidFill>
            <a:srgbClr val="1C7293"/>
          </a:solidFill>
          <a:ln/>
        </p:spPr>
        <p:txBody>
          <a:bodyPr/>
          <a:lstStyle/>
          <a:p>
            <a:endParaRPr lang="en-US"/>
          </a:p>
        </p:txBody>
      </p:sp>
      <p:sp>
        <p:nvSpPr>
          <p:cNvPr id="12" name="Text 10"/>
          <p:cNvSpPr/>
          <p:nvPr/>
        </p:nvSpPr>
        <p:spPr>
          <a:xfrm>
            <a:off x="731520" y="2596896"/>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1371600" y="2596896"/>
            <a:ext cx="182880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Filtering</a:t>
            </a:r>
            <a:endParaRPr lang="en-US" sz="1400" dirty="0"/>
          </a:p>
        </p:txBody>
      </p:sp>
      <p:sp>
        <p:nvSpPr>
          <p:cNvPr id="14" name="Text 12"/>
          <p:cNvSpPr/>
          <p:nvPr/>
        </p:nvSpPr>
        <p:spPr>
          <a:xfrm>
            <a:off x="3200400" y="2596896"/>
            <a:ext cx="5486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Removed zero-minute box score rows, dropped TOT aggregate rows, duplicated records</a:t>
            </a:r>
            <a:endParaRPr lang="en-US" sz="1200" dirty="0"/>
          </a:p>
        </p:txBody>
      </p:sp>
      <p:sp>
        <p:nvSpPr>
          <p:cNvPr id="15" name="Shape 13"/>
          <p:cNvSpPr/>
          <p:nvPr/>
        </p:nvSpPr>
        <p:spPr>
          <a:xfrm>
            <a:off x="731520" y="3346704"/>
            <a:ext cx="411480" cy="411480"/>
          </a:xfrm>
          <a:prstGeom prst="rect">
            <a:avLst/>
          </a:prstGeom>
          <a:solidFill>
            <a:srgbClr val="1C7293"/>
          </a:solidFill>
          <a:ln/>
        </p:spPr>
        <p:txBody>
          <a:bodyPr/>
          <a:lstStyle/>
          <a:p>
            <a:endParaRPr lang="en-US"/>
          </a:p>
        </p:txBody>
      </p:sp>
      <p:sp>
        <p:nvSpPr>
          <p:cNvPr id="16" name="Text 14"/>
          <p:cNvSpPr/>
          <p:nvPr/>
        </p:nvSpPr>
        <p:spPr>
          <a:xfrm>
            <a:off x="731520" y="3346704"/>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7" name="Text 15"/>
          <p:cNvSpPr/>
          <p:nvPr/>
        </p:nvSpPr>
        <p:spPr>
          <a:xfrm>
            <a:off x="1371600" y="3346704"/>
            <a:ext cx="182880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Feature Engineering</a:t>
            </a:r>
            <a:endParaRPr lang="en-US" sz="1400" dirty="0"/>
          </a:p>
        </p:txBody>
      </p:sp>
      <p:sp>
        <p:nvSpPr>
          <p:cNvPr id="18" name="Text 16"/>
          <p:cNvSpPr/>
          <p:nvPr/>
        </p:nvSpPr>
        <p:spPr>
          <a:xfrm>
            <a:off x="3200400" y="3346704"/>
            <a:ext cx="5486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Computed per-36-minute stats, true shooting %, home/away flag</a:t>
            </a:r>
            <a:endParaRPr lang="en-US" sz="1200" dirty="0"/>
          </a:p>
        </p:txBody>
      </p:sp>
      <p:sp>
        <p:nvSpPr>
          <p:cNvPr id="19" name="Shape 17"/>
          <p:cNvSpPr/>
          <p:nvPr/>
        </p:nvSpPr>
        <p:spPr>
          <a:xfrm>
            <a:off x="731520" y="4096512"/>
            <a:ext cx="411480" cy="411480"/>
          </a:xfrm>
          <a:prstGeom prst="rect">
            <a:avLst/>
          </a:prstGeom>
          <a:solidFill>
            <a:srgbClr val="1C7293"/>
          </a:solidFill>
          <a:ln/>
        </p:spPr>
        <p:txBody>
          <a:bodyPr/>
          <a:lstStyle/>
          <a:p>
            <a:endParaRPr lang="en-US"/>
          </a:p>
        </p:txBody>
      </p:sp>
      <p:sp>
        <p:nvSpPr>
          <p:cNvPr id="20" name="Text 18"/>
          <p:cNvSpPr/>
          <p:nvPr/>
        </p:nvSpPr>
        <p:spPr>
          <a:xfrm>
            <a:off x="731520" y="4096512"/>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1" name="Text 19"/>
          <p:cNvSpPr/>
          <p:nvPr/>
        </p:nvSpPr>
        <p:spPr>
          <a:xfrm>
            <a:off x="1371600" y="4096512"/>
            <a:ext cx="1828800" cy="36576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Output</a:t>
            </a:r>
            <a:endParaRPr lang="en-US" sz="1400" dirty="0"/>
          </a:p>
        </p:txBody>
      </p:sp>
      <p:sp>
        <p:nvSpPr>
          <p:cNvPr id="22" name="Text 20"/>
          <p:cNvSpPr/>
          <p:nvPr/>
        </p:nvSpPr>
        <p:spPr>
          <a:xfrm>
            <a:off x="3200400" y="4096512"/>
            <a:ext cx="5486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Wrote 4 cleaned Parquet files; loaded into BigQuery as native tables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rtlCol="0" anchor="ctr"/>
          <a:lstStyle/>
          <a:p>
            <a:pPr marL="0" indent="0">
              <a:buNone/>
            </a:pPr>
            <a:r>
              <a:rPr lang="en-US" sz="3200" b="1" dirty="0">
                <a:solidFill>
                  <a:srgbClr val="1E293B"/>
                </a:solidFill>
                <a:latin typeface="Trebuchet MS" pitchFamily="34" charset="0"/>
                <a:ea typeface="Trebuchet MS" pitchFamily="34" charset="-122"/>
                <a:cs typeface="Trebuchet MS" pitchFamily="34" charset="-120"/>
              </a:rPr>
              <a:t>Dashboard Demo</a:t>
            </a:r>
            <a:endParaRPr lang="en-US" sz="3200" dirty="0"/>
          </a:p>
        </p:txBody>
      </p:sp>
      <p:sp>
        <p:nvSpPr>
          <p:cNvPr id="3" name="Text 1"/>
          <p:cNvSpPr/>
          <p:nvPr/>
        </p:nvSpPr>
        <p:spPr>
          <a:xfrm>
            <a:off x="731520" y="822960"/>
            <a:ext cx="7315200" cy="365760"/>
          </a:xfrm>
          <a:prstGeom prst="rect">
            <a:avLst/>
          </a:prstGeom>
          <a:noFill/>
          <a:ln/>
        </p:spPr>
        <p:txBody>
          <a:bodyPr wrap="square" rtlCol="0" anchor="ctr"/>
          <a:lstStyle/>
          <a:p>
            <a:pPr marL="0" indent="0">
              <a:buNone/>
            </a:pPr>
            <a:endParaRPr lang="en-US" sz="1400" dirty="0"/>
          </a:p>
        </p:txBody>
      </p:sp>
      <p:pic>
        <p:nvPicPr>
          <p:cNvPr id="9" name="Recording 2026-05-06 192201">
            <a:hlinkClick r:id="" action="ppaction://media"/>
            <a:extLst>
              <a:ext uri="{FF2B5EF4-FFF2-40B4-BE49-F238E27FC236}">
                <a16:creationId xmlns:a16="http://schemas.microsoft.com/office/drawing/2014/main" id="{1773C31A-18E5-83C6-3557-1541E837D1AC}"/>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81842" y="914400"/>
            <a:ext cx="5414556" cy="40552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212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rtlCol="0" anchor="ctr"/>
          <a:lstStyle/>
          <a:p>
            <a:pPr marL="0" indent="0">
              <a:buNone/>
            </a:pPr>
            <a:r>
              <a:rPr lang="en-US" sz="3200" b="1" dirty="0">
                <a:solidFill>
                  <a:srgbClr val="1E293B"/>
                </a:solidFill>
                <a:latin typeface="Trebuchet MS" pitchFamily="34" charset="0"/>
                <a:ea typeface="Trebuchet MS" pitchFamily="34" charset="-122"/>
                <a:cs typeface="Trebuchet MS" pitchFamily="34" charset="-120"/>
              </a:rPr>
              <a:t>ML Model: Salary Prediction</a:t>
            </a:r>
            <a:endParaRPr lang="en-US" sz="3200" dirty="0"/>
          </a:p>
        </p:txBody>
      </p:sp>
      <p:sp>
        <p:nvSpPr>
          <p:cNvPr id="3" name="Text 1"/>
          <p:cNvSpPr/>
          <p:nvPr/>
        </p:nvSpPr>
        <p:spPr>
          <a:xfrm>
            <a:off x="731520" y="822960"/>
            <a:ext cx="7315200" cy="36576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Predict inflation-adjusted salary from player stats using BigQuery ML</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7680960" cy="822960"/>
        </p:xfrm>
        <a:graphic>
          <a:graphicData uri="http://schemas.openxmlformats.org/drawingml/2006/table">
            <a:tbl>
              <a:tblPr/>
              <a:tblGrid>
                <a:gridCol w="21945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65A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R² Score</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65A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MAE</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65A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Explained Variance</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Linear Regression</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0.381</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$4.07M</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0.383</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XGBoost</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F4F8"/>
                    </a:solidFill>
                  </a:tcPr>
                </a:tc>
                <a:tc>
                  <a:txBody>
                    <a:bodyPr/>
                    <a:lstStyle/>
                    <a:p>
                      <a:pPr marL="0" indent="0">
                        <a:buNone/>
                      </a:pPr>
                      <a:r>
                        <a:rPr lang="en-US" sz="1200" b="1" dirty="0">
                          <a:solidFill>
                            <a:srgbClr val="059669"/>
                          </a:solidFill>
                          <a:latin typeface="Calibri" pitchFamily="34" charset="0"/>
                          <a:ea typeface="Calibri" pitchFamily="34" charset="-122"/>
                          <a:cs typeface="Calibri" pitchFamily="34" charset="-120"/>
                        </a:rPr>
                        <a:t>0.484</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F4F8"/>
                    </a:solidFill>
                  </a:tcPr>
                </a:tc>
                <a:tc>
                  <a:txBody>
                    <a:bodyPr/>
                    <a:lstStyle/>
                    <a:p>
                      <a:pPr marL="0" indent="0">
                        <a:buNone/>
                      </a:pPr>
                      <a:r>
                        <a:rPr lang="en-US" sz="1200" b="1" dirty="0">
                          <a:solidFill>
                            <a:srgbClr val="059669"/>
                          </a:solidFill>
                          <a:latin typeface="Calibri" pitchFamily="34" charset="0"/>
                          <a:ea typeface="Calibri" pitchFamily="34" charset="-122"/>
                          <a:cs typeface="Calibri" pitchFamily="34" charset="-120"/>
                        </a:rPr>
                        <a:t>$3.53M</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F4F8"/>
                    </a:solidFill>
                  </a:tcPr>
                </a:tc>
                <a:tc>
                  <a:txBody>
                    <a:bodyPr/>
                    <a:lstStyle/>
                    <a:p>
                      <a:pPr marL="0" indent="0">
                        <a:buNone/>
                      </a:pPr>
                      <a:r>
                        <a:rPr lang="en-US" sz="1200" b="1" dirty="0">
                          <a:solidFill>
                            <a:srgbClr val="059669"/>
                          </a:solidFill>
                          <a:latin typeface="Calibri" pitchFamily="34" charset="0"/>
                          <a:ea typeface="Calibri" pitchFamily="34" charset="-122"/>
                          <a:cs typeface="Calibri" pitchFamily="34" charset="-120"/>
                        </a:rPr>
                        <a:t>0.487</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F4F8"/>
                    </a:solidFill>
                  </a:tcPr>
                </a:tc>
                <a:extLst>
                  <a:ext uri="{0D108BD9-81ED-4DB2-BD59-A6C34878D82A}">
                    <a16:rowId xmlns:a16="http://schemas.microsoft.com/office/drawing/2014/main" val="10002"/>
                  </a:ext>
                </a:extLst>
              </a:tr>
            </a:tbl>
          </a:graphicData>
        </a:graphic>
      </p:graphicFrame>
      <p:sp>
        <p:nvSpPr>
          <p:cNvPr id="5" name="Text 2"/>
          <p:cNvSpPr/>
          <p:nvPr/>
        </p:nvSpPr>
        <p:spPr>
          <a:xfrm>
            <a:off x="731520" y="2468880"/>
            <a:ext cx="7315200" cy="32004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Features: age, games played, MPG, PPG, RPG, APG, SPG, BPG, FG%, 3P%, eFG%</a:t>
            </a:r>
            <a:endParaRPr lang="en-US" sz="1100" dirty="0"/>
          </a:p>
        </p:txBody>
      </p:sp>
      <p:pic>
        <p:nvPicPr>
          <p:cNvPr id="6" name="Image 0" descr="/mnt/user-data/uploads/1777152387317_image.png"/>
          <p:cNvPicPr>
            <a:picLocks noChangeAspect="1"/>
          </p:cNvPicPr>
          <p:nvPr/>
        </p:nvPicPr>
        <p:blipFill>
          <a:blip r:embed="rId3"/>
          <a:stretch>
            <a:fillRect/>
          </a:stretch>
        </p:blipFill>
        <p:spPr>
          <a:xfrm>
            <a:off x="1414054" y="2788920"/>
            <a:ext cx="5950131" cy="2103120"/>
          </a:xfrm>
          <a:prstGeom prst="rect">
            <a:avLst/>
          </a:prstGeom>
          <a:effectLst>
            <a:outerShdw blurRad="76200" dist="25400" dir="8100000" algn="bl" rotWithShape="0">
              <a:srgbClr val="000000">
                <a:alpha val="12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rtlCol="0" anchor="ctr"/>
          <a:lstStyle/>
          <a:p>
            <a:pPr marL="0" indent="0">
              <a:buNone/>
            </a:pPr>
            <a:r>
              <a:rPr lang="en-US" sz="3200" b="1" dirty="0">
                <a:solidFill>
                  <a:srgbClr val="1E293B"/>
                </a:solidFill>
                <a:latin typeface="Trebuchet MS" pitchFamily="34" charset="0"/>
                <a:ea typeface="Trebuchet MS" pitchFamily="34" charset="-122"/>
                <a:cs typeface="Trebuchet MS" pitchFamily="34" charset="-120"/>
              </a:rPr>
              <a:t>Key Insights</a:t>
            </a:r>
            <a:endParaRPr lang="en-US" sz="3200" dirty="0"/>
          </a:p>
        </p:txBody>
      </p:sp>
      <p:sp>
        <p:nvSpPr>
          <p:cNvPr id="3" name="Shape 1"/>
          <p:cNvSpPr/>
          <p:nvPr/>
        </p:nvSpPr>
        <p:spPr>
          <a:xfrm>
            <a:off x="731520" y="1005840"/>
            <a:ext cx="54864" cy="777240"/>
          </a:xfrm>
          <a:prstGeom prst="rect">
            <a:avLst/>
          </a:prstGeom>
          <a:solidFill>
            <a:srgbClr val="1C7293"/>
          </a:solidFill>
          <a:ln/>
        </p:spPr>
        <p:txBody>
          <a:bodyPr/>
          <a:lstStyle/>
          <a:p>
            <a:endParaRPr lang="en-US"/>
          </a:p>
        </p:txBody>
      </p:sp>
      <p:sp>
        <p:nvSpPr>
          <p:cNvPr id="4" name="Text 2"/>
          <p:cNvSpPr/>
          <p:nvPr/>
        </p:nvSpPr>
        <p:spPr>
          <a:xfrm>
            <a:off x="1005840" y="1005840"/>
            <a:ext cx="7315200" cy="292608"/>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Three-Point Revolution</a:t>
            </a:r>
            <a:endParaRPr lang="en-US" sz="1500" dirty="0"/>
          </a:p>
        </p:txBody>
      </p:sp>
      <p:sp>
        <p:nvSpPr>
          <p:cNvPr id="5" name="Text 3"/>
          <p:cNvSpPr/>
          <p:nvPr/>
        </p:nvSpPr>
        <p:spPr>
          <a:xfrm>
            <a:off x="1005840" y="1298448"/>
            <a:ext cx="749808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3PA per game has risen steadily from near zero in the 1970s to over 3.0 in recent seasons, reshaping offensive strategy.</a:t>
            </a:r>
            <a:endParaRPr lang="en-US" sz="1200" dirty="0"/>
          </a:p>
        </p:txBody>
      </p:sp>
      <p:sp>
        <p:nvSpPr>
          <p:cNvPr id="6" name="Shape 4"/>
          <p:cNvSpPr/>
          <p:nvPr/>
        </p:nvSpPr>
        <p:spPr>
          <a:xfrm>
            <a:off x="731520" y="2011680"/>
            <a:ext cx="54864" cy="777240"/>
          </a:xfrm>
          <a:prstGeom prst="rect">
            <a:avLst/>
          </a:prstGeom>
          <a:solidFill>
            <a:srgbClr val="1C7293"/>
          </a:solidFill>
          <a:ln/>
        </p:spPr>
        <p:txBody>
          <a:bodyPr/>
          <a:lstStyle/>
          <a:p>
            <a:endParaRPr lang="en-US"/>
          </a:p>
        </p:txBody>
      </p:sp>
      <p:sp>
        <p:nvSpPr>
          <p:cNvPr id="7" name="Text 5"/>
          <p:cNvSpPr/>
          <p:nvPr/>
        </p:nvSpPr>
        <p:spPr>
          <a:xfrm>
            <a:off x="1005840" y="2011680"/>
            <a:ext cx="7315200" cy="292608"/>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Salary &amp; Performance</a:t>
            </a:r>
            <a:endParaRPr lang="en-US" sz="1500" dirty="0"/>
          </a:p>
        </p:txBody>
      </p:sp>
      <p:sp>
        <p:nvSpPr>
          <p:cNvPr id="8" name="Text 6"/>
          <p:cNvSpPr/>
          <p:nvPr/>
        </p:nvSpPr>
        <p:spPr>
          <a:xfrm>
            <a:off x="1005840" y="2304288"/>
            <a:ext cx="749808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The XGBoost model shows that salary does largely follow player performance trends, though some variance remains due to market dynamics, draft position, contract timing, and team cap situations that go beyond pure on-court production</a:t>
            </a:r>
            <a:endParaRPr lang="en-US" sz="1200" dirty="0"/>
          </a:p>
        </p:txBody>
      </p:sp>
      <p:sp>
        <p:nvSpPr>
          <p:cNvPr id="9" name="Shape 7"/>
          <p:cNvSpPr/>
          <p:nvPr/>
        </p:nvSpPr>
        <p:spPr>
          <a:xfrm>
            <a:off x="731520" y="3017520"/>
            <a:ext cx="54864" cy="777240"/>
          </a:xfrm>
          <a:prstGeom prst="rect">
            <a:avLst/>
          </a:prstGeom>
          <a:solidFill>
            <a:srgbClr val="1C7293"/>
          </a:solidFill>
          <a:ln/>
        </p:spPr>
        <p:txBody>
          <a:bodyPr/>
          <a:lstStyle/>
          <a:p>
            <a:endParaRPr lang="en-US"/>
          </a:p>
        </p:txBody>
      </p:sp>
      <p:sp>
        <p:nvSpPr>
          <p:cNvPr id="10" name="Text 8"/>
          <p:cNvSpPr/>
          <p:nvPr/>
        </p:nvSpPr>
        <p:spPr>
          <a:xfrm>
            <a:off x="1005840" y="3017520"/>
            <a:ext cx="7315200" cy="292608"/>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Most Overpaid Players</a:t>
            </a:r>
            <a:endParaRPr lang="en-US" sz="1500" dirty="0"/>
          </a:p>
        </p:txBody>
      </p:sp>
      <p:sp>
        <p:nvSpPr>
          <p:cNvPr id="11" name="Text 9"/>
          <p:cNvSpPr/>
          <p:nvPr/>
        </p:nvSpPr>
        <p:spPr>
          <a:xfrm>
            <a:off x="1005840" y="3310128"/>
            <a:ext cx="749808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Mike Conley (2020), Gordon Hayward (2019), and Paul George (2018) top the overpay list, with actual salaries exceeding predicted values by $25M+, often due to injuries reducing stats while salaries remained the same.</a:t>
            </a:r>
            <a:endParaRPr lang="en-US" sz="1200" dirty="0"/>
          </a:p>
        </p:txBody>
      </p:sp>
      <p:sp>
        <p:nvSpPr>
          <p:cNvPr id="12" name="Shape 10"/>
          <p:cNvSpPr/>
          <p:nvPr/>
        </p:nvSpPr>
        <p:spPr>
          <a:xfrm>
            <a:off x="731520" y="4023360"/>
            <a:ext cx="54864" cy="777240"/>
          </a:xfrm>
          <a:prstGeom prst="rect">
            <a:avLst/>
          </a:prstGeom>
          <a:solidFill>
            <a:srgbClr val="1C7293"/>
          </a:solidFill>
          <a:ln/>
        </p:spPr>
        <p:txBody>
          <a:bodyPr/>
          <a:lstStyle/>
          <a:p>
            <a:endParaRPr lang="en-US"/>
          </a:p>
        </p:txBody>
      </p:sp>
      <p:sp>
        <p:nvSpPr>
          <p:cNvPr id="13" name="Text 11"/>
          <p:cNvSpPr/>
          <p:nvPr/>
        </p:nvSpPr>
        <p:spPr>
          <a:xfrm>
            <a:off x="1005840" y="4023360"/>
            <a:ext cx="7315200" cy="292608"/>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Career Efficiency Leaders</a:t>
            </a:r>
            <a:endParaRPr lang="en-US" sz="1500" dirty="0"/>
          </a:p>
        </p:txBody>
      </p:sp>
      <p:sp>
        <p:nvSpPr>
          <p:cNvPr id="14" name="Text 12"/>
          <p:cNvSpPr/>
          <p:nvPr/>
        </p:nvSpPr>
        <p:spPr>
          <a:xfrm>
            <a:off x="1005840" y="4315968"/>
            <a:ext cx="749808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Players with high career TS% and PPG cluster tightly in the scatter plot, showing that elite scorers tend to also be efficient, volume and efficiency are not mutually exclusive.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3657600"/>
            <a:ext cx="9144000" cy="36576"/>
          </a:xfrm>
          <a:prstGeom prst="rect">
            <a:avLst/>
          </a:prstGeom>
          <a:solidFill>
            <a:srgbClr val="1C7293"/>
          </a:solidFill>
          <a:ln/>
        </p:spPr>
        <p:txBody>
          <a:bodyPr/>
          <a:lstStyle/>
          <a:p>
            <a:endParaRPr lang="en-US"/>
          </a:p>
        </p:txBody>
      </p:sp>
      <p:sp>
        <p:nvSpPr>
          <p:cNvPr id="3" name="Text 1"/>
          <p:cNvSpPr/>
          <p:nvPr/>
        </p:nvSpPr>
        <p:spPr>
          <a:xfrm>
            <a:off x="731520" y="1097280"/>
            <a:ext cx="7680960" cy="914400"/>
          </a:xfrm>
          <a:prstGeom prst="rect">
            <a:avLst/>
          </a:prstGeom>
          <a:noFill/>
          <a:ln/>
        </p:spPr>
        <p:txBody>
          <a:bodyPr wrap="square" rtlCol="0" anchor="ctr"/>
          <a:lstStyle/>
          <a:p>
            <a:pPr marL="0" indent="0">
              <a:buNone/>
            </a:pPr>
            <a:r>
              <a:rPr lang="en-US" sz="4200" b="1" dirty="0">
                <a:solidFill>
                  <a:srgbClr val="FFFFFF"/>
                </a:solidFill>
                <a:latin typeface="Trebuchet MS" pitchFamily="34" charset="0"/>
                <a:ea typeface="Trebuchet MS" pitchFamily="34" charset="-122"/>
                <a:cs typeface="Trebuchet MS" pitchFamily="34" charset="-120"/>
              </a:rPr>
              <a:t>Thank You</a:t>
            </a:r>
            <a:endParaRPr lang="en-US" sz="4200" dirty="0"/>
          </a:p>
        </p:txBody>
      </p:sp>
      <p:sp>
        <p:nvSpPr>
          <p:cNvPr id="4" name="Text 2"/>
          <p:cNvSpPr/>
          <p:nvPr/>
        </p:nvSpPr>
        <p:spPr>
          <a:xfrm>
            <a:off x="731520" y="2011680"/>
            <a:ext cx="7680960" cy="548640"/>
          </a:xfrm>
          <a:prstGeom prst="rect">
            <a:avLst/>
          </a:prstGeom>
          <a:noFill/>
          <a:ln/>
        </p:spPr>
        <p:txBody>
          <a:bodyPr wrap="square" rtlCol="0" anchor="ctr"/>
          <a:lstStyle/>
          <a:p>
            <a:pPr marL="0" indent="0">
              <a:buNone/>
            </a:pPr>
            <a:r>
              <a:rPr lang="en-US" sz="2400" dirty="0">
                <a:solidFill>
                  <a:srgbClr val="1C7293"/>
                </a:solidFill>
                <a:latin typeface="Calibri" pitchFamily="34" charset="0"/>
                <a:ea typeface="Calibri" pitchFamily="34" charset="-122"/>
                <a:cs typeface="Calibri" pitchFamily="34" charset="-120"/>
              </a:rPr>
              <a:t>Questions?</a:t>
            </a:r>
            <a:endParaRPr lang="en-US" sz="2400" dirty="0"/>
          </a:p>
        </p:txBody>
      </p:sp>
      <p:sp>
        <p:nvSpPr>
          <p:cNvPr id="5" name="Text 3"/>
          <p:cNvSpPr/>
          <p:nvPr/>
        </p:nvSpPr>
        <p:spPr>
          <a:xfrm>
            <a:off x="731520" y="3931920"/>
            <a:ext cx="7315200" cy="91440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Jacob Jarvis</a:t>
            </a:r>
            <a:endParaRPr lang="en-US" sz="1400" dirty="0"/>
          </a:p>
          <a:p>
            <a:pPr marL="0" indent="0">
              <a:buNone/>
            </a:pPr>
            <a:r>
              <a:rPr lang="en-US" sz="1200" dirty="0">
                <a:solidFill>
                  <a:srgbClr val="64748B"/>
                </a:solidFill>
                <a:latin typeface="Calibri" pitchFamily="34" charset="0"/>
                <a:ea typeface="Calibri" pitchFamily="34" charset="-122"/>
                <a:cs typeface="Calibri" pitchFamily="34" charset="-120"/>
              </a:rPr>
              <a:t>CPSC 482 — Data-Intensive Systems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491</Words>
  <Application>Microsoft Office PowerPoint</Application>
  <PresentationFormat>On-screen Show (16:9)</PresentationFormat>
  <Paragraphs>127</Paragraphs>
  <Slides>9</Slides>
  <Notes>9</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NBA Player Performance &amp; Salary Analytics Pipeline</dc:title>
  <dc:subject>PptxGenJS Presentation</dc:subject>
  <dc:creator>Jacob Jarvis</dc:creator>
  <cp:lastModifiedBy>Jacob Jarvis</cp:lastModifiedBy>
  <cp:revision>5</cp:revision>
  <dcterms:created xsi:type="dcterms:W3CDTF">2026-04-25T21:30:51Z</dcterms:created>
  <dcterms:modified xsi:type="dcterms:W3CDTF">2026-05-07T02:46:14Z</dcterms:modified>
</cp:coreProperties>
</file>